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3"/>
    <p:sldId id="307" r:id="rId4"/>
    <p:sldId id="257" r:id="rId5"/>
    <p:sldId id="258" r:id="rId6"/>
    <p:sldId id="259" r:id="rId7"/>
    <p:sldId id="261" r:id="rId8"/>
    <p:sldId id="262" r:id="rId9"/>
    <p:sldId id="263" r:id="rId10"/>
    <p:sldId id="325" r:id="rId11"/>
    <p:sldId id="329" r:id="rId12"/>
    <p:sldId id="330" r:id="rId13"/>
    <p:sldId id="299" r:id="rId14"/>
    <p:sldId id="264" r:id="rId15"/>
    <p:sldId id="265" r:id="rId16"/>
    <p:sldId id="294" r:id="rId17"/>
    <p:sldId id="295" r:id="rId18"/>
    <p:sldId id="296" r:id="rId19"/>
    <p:sldId id="297" r:id="rId20"/>
    <p:sldId id="306" r:id="rId22"/>
    <p:sldId id="300" r:id="rId23"/>
    <p:sldId id="331" r:id="rId24"/>
    <p:sldId id="301" r:id="rId25"/>
    <p:sldId id="332" r:id="rId26"/>
    <p:sldId id="333" r:id="rId27"/>
    <p:sldId id="305" r:id="rId28"/>
    <p:sldId id="308" r:id="rId29"/>
    <p:sldId id="341" r:id="rId30"/>
    <p:sldId id="309" r:id="rId31"/>
    <p:sldId id="334" r:id="rId32"/>
    <p:sldId id="335" r:id="rId33"/>
    <p:sldId id="310" r:id="rId34"/>
    <p:sldId id="336" r:id="rId35"/>
    <p:sldId id="337" r:id="rId36"/>
    <p:sldId id="338" r:id="rId37"/>
    <p:sldId id="312" r:id="rId38"/>
    <p:sldId id="343" r:id="rId39"/>
    <p:sldId id="314" r:id="rId40"/>
    <p:sldId id="342" r:id="rId41"/>
    <p:sldId id="339" r:id="rId42"/>
    <p:sldId id="340" r:id="rId43"/>
    <p:sldId id="313" r:id="rId44"/>
    <p:sldId id="316" r:id="rId45"/>
    <p:sldId id="317" r:id="rId46"/>
    <p:sldId id="345" r:id="rId47"/>
    <p:sldId id="318" r:id="rId48"/>
    <p:sldId id="344" r:id="rId49"/>
    <p:sldId id="319" r:id="rId50"/>
    <p:sldId id="346" r:id="rId51"/>
    <p:sldId id="320" r:id="rId52"/>
    <p:sldId id="321" r:id="rId53"/>
    <p:sldId id="322" r:id="rId54"/>
    <p:sldId id="347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JO JOSE" initials="LJ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0" d="100"/>
          <a:sy n="70" d="100"/>
        </p:scale>
        <p:origin x="512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9" Type="http://schemas.openxmlformats.org/officeDocument/2006/relationships/commentAuthors" Target="commentAuthors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EC2630-8DB8-487B-9FE2-C5FDB3B8DC1C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2B9422-A8F8-48DE-B73C-6804D5BF396C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85749-DB04-49F7-BBBA-9FB1B914A463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85749-DB04-49F7-BBBA-9FB1B914A463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85749-DB04-49F7-BBBA-9FB1B914A463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C841F-8ED4-4D93-8C3B-046EF480D3CB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AC446-D308-4542-9F0F-640908F6F6DA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635AA-2EC0-4424-80EB-C21D1B1CF307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078D-44B0-4711-B937-EC60B9D083ED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A34CD-DEF6-4C81-87F7-7B90002E392A}" type="datetime1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22AD1-1527-4A63-9D30-90F9D29DC1FB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FC719-41F6-4C38-8E31-2534216D77EF}" type="datetime1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805B5-C8E5-4917-AA96-75D7D2B9E946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F7DF0-E912-48F8-98FB-55C1BE797444}" type="datetime1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22AA-A9A3-43D3-B316-EE631277EED0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48553-C2FF-4A77-A52F-BFBF86228D0C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FF931-D617-4E55-A6E5-967E3909537B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8BBE5-D833-4B3E-A5B6-9281F7A0676B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1577-ECF7-434B-BEF6-D22FBA5EE4B8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72357-CA28-4EA8-881A-C767A45D6C67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383B5-6966-43B5-8D83-BF456774378B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C4A1F-8423-46EE-8E90-57023E174499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00E47B3-495A-4D82-8FEF-A509AF83E6A5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1306285"/>
            <a:ext cx="10400397" cy="1567543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4</a:t>
            </a:r>
            <a:b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3024554"/>
            <a:ext cx="10545837" cy="301680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4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Dictionaries and Strings</a:t>
            </a:r>
            <a:endParaRPr lang="en-IN" sz="4400" b="1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8579" y="1333954"/>
            <a:ext cx="8596668" cy="5072533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 b="0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supports the below-mentioned built-in data types:</a:t>
            </a:r>
            <a:endParaRPr lang="en-US" sz="2800" b="0" i="0" dirty="0">
              <a:solidFill>
                <a:srgbClr val="3A3A3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Immutable data types:</a:t>
            </a:r>
            <a:endParaRPr lang="en-US" sz="2800" b="0" i="0" dirty="0">
              <a:solidFill>
                <a:srgbClr val="3A3A3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endParaRPr lang="en-US" sz="2800" b="0" i="0" dirty="0">
              <a:solidFill>
                <a:srgbClr val="3A3A3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endParaRPr lang="en-US" sz="2800" b="0" i="0" dirty="0">
              <a:solidFill>
                <a:srgbClr val="3A3A3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Tuple</a:t>
            </a:r>
            <a:endParaRPr lang="en-US" sz="2800" b="0" i="0" dirty="0">
              <a:solidFill>
                <a:srgbClr val="3A3A3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Mutable data types:</a:t>
            </a:r>
            <a:endParaRPr lang="en-US" sz="2800" b="0" i="0" dirty="0">
              <a:solidFill>
                <a:srgbClr val="3A3A3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endParaRPr lang="en-US" sz="2800" b="0" i="0" dirty="0">
              <a:solidFill>
                <a:srgbClr val="3A3A3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Dictionary</a:t>
            </a:r>
            <a:endParaRPr lang="en-US" sz="2800" b="0" i="0" dirty="0">
              <a:solidFill>
                <a:srgbClr val="3A3A3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endParaRPr lang="en-US" sz="2800" b="0" i="0" dirty="0">
              <a:solidFill>
                <a:srgbClr val="3A3A3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71305"/>
            <a:ext cx="8596668" cy="1587639"/>
          </a:xfrm>
        </p:spPr>
        <p:txBody>
          <a:bodyPr>
            <a:normAutofit fontScale="90000"/>
          </a:bodyPr>
          <a:lstStyle/>
          <a:p>
            <a:br>
              <a:rPr lang="en-IN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Dictionaries</a:t>
            </a:r>
            <a:br>
              <a:rPr lang="en-IN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572756" y="1473710"/>
            <a:ext cx="9234435" cy="4416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algn="just" fontAlgn="base">
              <a:buFont typeface="Wingdings" panose="05000000000000000000" pitchFamily="2" charset="2"/>
              <a:buChar char="Ø"/>
            </a:pPr>
            <a:r>
              <a:rPr lang="en-US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Dictionaries are used to store data values in key: value pairs.</a:t>
            </a:r>
            <a:endParaRPr lang="en-US" alt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fontAlgn="base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dictionary is a collection that is unordered, changeable, and  does not allow duplicates.</a:t>
            </a:r>
            <a:endParaRPr lang="en-US" alt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fontAlgn="base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Keys are unique identifiers associated with each value.</a:t>
            </a:r>
            <a:endParaRPr lang="en-US" alt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fontAlgn="base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Dictionaries are written with curly brackets {} and have keys and values.</a:t>
            </a:r>
            <a:endParaRPr lang="en-US" alt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77334" y="522514"/>
            <a:ext cx="8596668" cy="5518849"/>
          </a:xfrm>
        </p:spPr>
        <p:txBody>
          <a:bodyPr>
            <a:normAutofit/>
          </a:bodyPr>
          <a:lstStyle/>
          <a:p>
            <a:pPr algn="just" fontAlgn="base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base">
              <a:buNone/>
            </a:pPr>
            <a:r>
              <a:rPr lang="en-I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</a:t>
            </a:r>
            <a:r>
              <a:rPr lang="en-IN" sz="3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myCat</a:t>
            </a:r>
            <a:r>
              <a:rPr lang="en-I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{'size': 'fat', '</a:t>
            </a:r>
            <a:r>
              <a:rPr lang="en-IN" sz="3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': '</a:t>
            </a:r>
            <a:r>
              <a:rPr lang="en-IN" sz="3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gray</a:t>
            </a:r>
            <a:r>
              <a:rPr lang="en-I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'disposition': 'loud’}</a:t>
            </a:r>
            <a:endParaRPr lang="en-IN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Keys: 'size’, '</a:t>
            </a:r>
            <a:r>
              <a:rPr lang="en-IN" sz="3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’, 'disposition’</a:t>
            </a:r>
            <a:endParaRPr lang="en-IN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Values: 'fat’, '</a:t>
            </a:r>
            <a:r>
              <a:rPr lang="en-IN" sz="3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gray</a:t>
            </a:r>
            <a:r>
              <a:rPr lang="en-IN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’, 'loud’</a:t>
            </a:r>
            <a:endParaRPr lang="en-IN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base">
              <a:buNone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</a:t>
            </a: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myCat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['size']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base">
              <a:buNone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'fat'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base">
              <a:buNone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'My cat has ' + </a:t>
            </a: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myCat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['color'] + ' fur.'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fontAlgn="base">
              <a:buNone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'My cat has gray fur.'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Dictionary vs Lists</a:t>
            </a:r>
            <a:endParaRPr lang="en-IN" sz="4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6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36914" y="2160588"/>
            <a:ext cx="7566409" cy="3881437"/>
          </a:xfr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93336" y="1076151"/>
            <a:ext cx="7975344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Dictionaries are unordered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unlike lists.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Lists maintain order, but dictionaries do </a:t>
            </a:r>
            <a:r>
              <a:rPr lang="en-US" alt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Content Placeholder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319" y="2542233"/>
            <a:ext cx="7686988" cy="341597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dictionary in Python</a:t>
            </a:r>
            <a:endParaRPr lang="en-IN" sz="4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87641"/>
            <a:ext cx="8596668" cy="4453722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 = {A: "One", B: "Two", C: "Three"}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print(numbers)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print(numbers. Get(B))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print(numbers[A])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5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Here we have created a dictionary named numbers.</a:t>
            </a:r>
            <a:endParaRPr lang="en-US" sz="35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5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Here, keys and values both are of string type. </a:t>
            </a:r>
            <a:endParaRPr lang="en-US" sz="35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5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can also have keys and values of different data types.</a:t>
            </a:r>
            <a:endParaRPr lang="en-US" sz="35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753627"/>
            <a:ext cx="8596668" cy="5287736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32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ictionary with keys and values of different data types</a:t>
            </a:r>
            <a:endParaRPr lang="en-US" sz="32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numbers = {1: "One", 2: "Two", 3: "Three"}</a:t>
            </a:r>
            <a:endParaRPr lang="en-US" sz="3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print(numbers)</a:t>
            </a:r>
            <a:endParaRPr lang="en-US" sz="3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keys are of integer type and values are of string type.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28735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keys(), values(), and items() Methods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58213"/>
            <a:ext cx="10043540" cy="4483150"/>
          </a:xfrm>
        </p:spPr>
        <p:txBody>
          <a:bodyPr>
            <a:normAutofit/>
          </a:bodyPr>
          <a:lstStyle/>
          <a:p>
            <a:r>
              <a:rPr lang="en-US" sz="3200" dirty="0"/>
              <a:t>There are three dictionary methods that will return list-like values of the dictionary’s keys, values, or both keys and values:</a:t>
            </a:r>
            <a:endParaRPr lang="en-US" sz="3200" dirty="0"/>
          </a:p>
          <a:p>
            <a:pPr marL="514350" indent="-514350">
              <a:buAutoNum type="arabicPeriod"/>
            </a:pPr>
            <a:r>
              <a:rPr lang="en-US" sz="3200" dirty="0"/>
              <a:t>keys()</a:t>
            </a:r>
            <a:endParaRPr lang="en-US" sz="3200" dirty="0"/>
          </a:p>
          <a:p>
            <a:pPr marL="514350" indent="-514350">
              <a:buAutoNum type="arabicPeriod"/>
            </a:pPr>
            <a:r>
              <a:rPr lang="en-US" sz="3200" dirty="0"/>
              <a:t>values()</a:t>
            </a:r>
            <a:endParaRPr lang="en-US" sz="3200" dirty="0"/>
          </a:p>
          <a:p>
            <a:pPr marL="514350" indent="-514350">
              <a:buAutoNum type="arabicPeriod"/>
            </a:pPr>
            <a:r>
              <a:rPr lang="en-US" sz="3200" dirty="0"/>
              <a:t>items()</a:t>
            </a: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200" b="0" i="0" u="none" strike="noStrike" baseline="0" dirty="0">
                <a:latin typeface="LiberationMono-Identity-H"/>
              </a:rPr>
              <a:t>&gt;&gt;&gt; </a:t>
            </a:r>
            <a:r>
              <a:rPr lang="en-IN" sz="3200" b="1" i="0" u="none" strike="noStrike" baseline="0" dirty="0">
                <a:latin typeface="LiberationMono-Bold-Identity-H"/>
              </a:rPr>
              <a:t>spam = {'</a:t>
            </a:r>
            <a:r>
              <a:rPr lang="en-IN" sz="3200" b="1" i="0" u="none" strike="noStrike" baseline="0" dirty="0" err="1">
                <a:latin typeface="LiberationMono-Bold-Identity-H"/>
              </a:rPr>
              <a:t>color</a:t>
            </a:r>
            <a:r>
              <a:rPr lang="en-IN" sz="3200" b="1" i="0" u="none" strike="noStrike" baseline="0" dirty="0">
                <a:latin typeface="LiberationMono-Bold-Identity-H"/>
              </a:rPr>
              <a:t>': 'red', 'age': 42}</a:t>
            </a:r>
            <a:endParaRPr lang="en-IN" sz="3200" b="1" i="0" u="none" strike="noStrike" baseline="0" dirty="0">
              <a:latin typeface="LiberationMono-Bold-Identity-H"/>
            </a:endParaRPr>
          </a:p>
          <a:p>
            <a:pPr algn="l"/>
            <a:r>
              <a:rPr lang="en-US" sz="3200" b="0" i="0" u="none" strike="noStrike" baseline="0" dirty="0">
                <a:latin typeface="LiberationMono-Identity-H"/>
              </a:rPr>
              <a:t>&gt;&gt;&gt; </a:t>
            </a:r>
            <a:r>
              <a:rPr lang="en-US" sz="3200" b="1" i="0" u="none" strike="noStrike" baseline="0" dirty="0">
                <a:latin typeface="LiberationMono-Bold-Identity-H"/>
              </a:rPr>
              <a:t>for v in </a:t>
            </a:r>
            <a:r>
              <a:rPr lang="en-US" sz="3200" b="1" i="0" u="none" strike="noStrike" baseline="0" dirty="0" err="1">
                <a:latin typeface="LiberationMono-Bold-Identity-H"/>
              </a:rPr>
              <a:t>spam.values</a:t>
            </a:r>
            <a:r>
              <a:rPr lang="en-US" sz="3200" b="1" i="0" u="none" strike="noStrike" baseline="0" dirty="0">
                <a:latin typeface="LiberationMono-Bold-Identity-H"/>
              </a:rPr>
              <a:t>():</a:t>
            </a:r>
            <a:endParaRPr lang="en-US" sz="3200" b="1" i="0" u="none" strike="noStrike" baseline="0" dirty="0">
              <a:latin typeface="LiberationMono-Bold-Identity-H"/>
            </a:endParaRPr>
          </a:p>
          <a:p>
            <a:pPr algn="l"/>
            <a:r>
              <a:rPr lang="en-IN" sz="3200" b="1" i="0" u="none" strike="noStrike" baseline="0" dirty="0">
                <a:latin typeface="LiberationMono-Bold-Identity-H"/>
              </a:rPr>
              <a:t>print(v)</a:t>
            </a:r>
            <a:endParaRPr lang="en-IN" sz="3200" b="1" i="0" u="none" strike="noStrike" baseline="0" dirty="0">
              <a:latin typeface="LiberationMono-Bold-Identity-H"/>
            </a:endParaRPr>
          </a:p>
          <a:p>
            <a:pPr algn="l"/>
            <a:r>
              <a:rPr lang="en-IN" sz="3200" b="0" i="0" u="none" strike="noStrike" baseline="0" dirty="0">
                <a:latin typeface="LiberationMono-Identity-H"/>
              </a:rPr>
              <a:t>red</a:t>
            </a:r>
            <a:endParaRPr lang="en-IN" sz="3200" b="0" i="0" u="none" strike="noStrike" baseline="0" dirty="0">
              <a:latin typeface="LiberationMono-Identity-H"/>
            </a:endParaRPr>
          </a:p>
          <a:p>
            <a:pPr algn="l"/>
            <a:r>
              <a:rPr lang="en-IN" sz="3200" b="0" i="0" u="none" strike="noStrike" baseline="0" dirty="0">
                <a:latin typeface="LiberationMono-Identity-H"/>
              </a:rPr>
              <a:t>42</a:t>
            </a:r>
            <a:endParaRPr lang="en-IN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813917"/>
            <a:ext cx="8596668" cy="5227446"/>
          </a:xfrm>
        </p:spPr>
        <p:txBody>
          <a:bodyPr>
            <a:normAutofit/>
          </a:bodyPr>
          <a:lstStyle/>
          <a:p>
            <a:pPr algn="l"/>
            <a:r>
              <a:rPr lang="en-US" sz="3200" b="0" i="0" u="none" strike="noStrike" baseline="0" dirty="0">
                <a:latin typeface="LiberationMono-Identity-H"/>
              </a:rPr>
              <a:t>&gt;&gt;&gt; </a:t>
            </a:r>
            <a:r>
              <a:rPr lang="en-US" sz="3200" b="1" i="0" u="none" strike="noStrike" baseline="0" dirty="0">
                <a:latin typeface="LiberationMono-Bold-Identity-H"/>
              </a:rPr>
              <a:t>for k in </a:t>
            </a:r>
            <a:r>
              <a:rPr lang="en-US" sz="3200" b="1" i="0" u="none" strike="noStrike" baseline="0" dirty="0" err="1">
                <a:latin typeface="LiberationMono-Bold-Identity-H"/>
              </a:rPr>
              <a:t>spam.keys</a:t>
            </a:r>
            <a:r>
              <a:rPr lang="en-US" sz="3200" b="1" i="0" u="none" strike="noStrike" baseline="0" dirty="0">
                <a:latin typeface="LiberationMono-Bold-Identity-H"/>
              </a:rPr>
              <a:t>():</a:t>
            </a:r>
            <a:endParaRPr lang="en-US" sz="3200" b="1" i="0" u="none" strike="noStrike" baseline="0" dirty="0">
              <a:latin typeface="LiberationMono-Bold-Identity-H"/>
            </a:endParaRPr>
          </a:p>
          <a:p>
            <a:pPr algn="l"/>
            <a:r>
              <a:rPr lang="en-IN" sz="3200" b="1" i="0" u="none" strike="noStrike" baseline="0" dirty="0">
                <a:latin typeface="LiberationMono-Bold-Identity-H"/>
              </a:rPr>
              <a:t>print(spam[k])</a:t>
            </a:r>
            <a:endParaRPr lang="en-IN" sz="3200" b="1" i="0" u="none" strike="noStrike" baseline="0" dirty="0">
              <a:latin typeface="LiberationMono-Bold-Identity-H"/>
            </a:endParaRPr>
          </a:p>
          <a:p>
            <a:pPr algn="l"/>
            <a:r>
              <a:rPr lang="en-IN" sz="3200" b="0" i="0" u="none" strike="noStrike" baseline="0" dirty="0" err="1">
                <a:latin typeface="LiberationMono-Identity-H"/>
              </a:rPr>
              <a:t>color</a:t>
            </a:r>
            <a:endParaRPr lang="en-IN" sz="3200" b="0" i="0" u="none" strike="noStrike" baseline="0" dirty="0">
              <a:latin typeface="LiberationMono-Identity-H"/>
            </a:endParaRPr>
          </a:p>
          <a:p>
            <a:pPr algn="l"/>
            <a:r>
              <a:rPr lang="en-IN" sz="3200" b="0" i="0" u="none" strike="noStrike" baseline="0" dirty="0">
                <a:latin typeface="LiberationMono-Identity-H"/>
              </a:rPr>
              <a:t>age</a:t>
            </a:r>
            <a:endParaRPr lang="en-IN" sz="3200" b="0" i="0" u="none" strike="noStrike" baseline="0" dirty="0">
              <a:latin typeface="LiberationMono-Identity-H"/>
            </a:endParaRPr>
          </a:p>
          <a:p>
            <a:pPr algn="l"/>
            <a:r>
              <a:rPr lang="en-US" sz="3200" b="0" i="0" u="none" strike="noStrike" baseline="0" dirty="0">
                <a:latin typeface="LiberationMono-Identity-H"/>
              </a:rPr>
              <a:t>&gt;&gt;&gt; </a:t>
            </a:r>
            <a:r>
              <a:rPr lang="en-US" sz="3200" b="1" i="0" u="none" strike="noStrike" baseline="0" dirty="0">
                <a:latin typeface="LiberationMono-Bold-Identity-H"/>
              </a:rPr>
              <a:t>for </a:t>
            </a:r>
            <a:r>
              <a:rPr lang="en-US" sz="3200" b="1" i="0" u="none" strike="noStrike" baseline="0" dirty="0" err="1">
                <a:latin typeface="LiberationMono-Bold-Identity-H"/>
              </a:rPr>
              <a:t>i</a:t>
            </a:r>
            <a:r>
              <a:rPr lang="en-US" sz="3200" b="1" i="0" u="none" strike="noStrike" baseline="0" dirty="0">
                <a:latin typeface="LiberationMono-Bold-Identity-H"/>
              </a:rPr>
              <a:t> in </a:t>
            </a:r>
            <a:r>
              <a:rPr lang="en-US" sz="3200" b="1" i="0" u="none" strike="noStrike" baseline="0" dirty="0" err="1">
                <a:latin typeface="LiberationMono-Bold-Identity-H"/>
              </a:rPr>
              <a:t>spam.items</a:t>
            </a:r>
            <a:r>
              <a:rPr lang="en-US" sz="3200" b="1" i="0" u="none" strike="noStrike" baseline="0" dirty="0">
                <a:latin typeface="LiberationMono-Bold-Identity-H"/>
              </a:rPr>
              <a:t>():</a:t>
            </a:r>
            <a:endParaRPr lang="en-US" sz="3200" b="1" i="0" u="none" strike="noStrike" baseline="0" dirty="0">
              <a:latin typeface="LiberationMono-Bold-Identity-H"/>
            </a:endParaRPr>
          </a:p>
          <a:p>
            <a:pPr algn="l"/>
            <a:r>
              <a:rPr lang="en-IN" sz="3200" b="1" i="0" u="none" strike="noStrike" baseline="0" dirty="0">
                <a:latin typeface="LiberationMono-Bold-Identity-H"/>
              </a:rPr>
              <a:t>print(</a:t>
            </a:r>
            <a:r>
              <a:rPr lang="en-IN" sz="3200" b="1" i="0" u="none" strike="noStrike" baseline="0" dirty="0" err="1">
                <a:latin typeface="LiberationMono-Bold-Identity-H"/>
              </a:rPr>
              <a:t>i</a:t>
            </a:r>
            <a:r>
              <a:rPr lang="en-IN" sz="3200" b="1" i="0" u="none" strike="noStrike" baseline="0" dirty="0">
                <a:latin typeface="LiberationMono-Bold-Identity-H"/>
              </a:rPr>
              <a:t>)</a:t>
            </a:r>
            <a:endParaRPr lang="en-IN" sz="3200" b="1" i="0" u="none" strike="noStrike" baseline="0" dirty="0">
              <a:latin typeface="LiberationMono-Bold-Identity-H"/>
            </a:endParaRPr>
          </a:p>
          <a:p>
            <a:pPr algn="l"/>
            <a:r>
              <a:rPr lang="en-IN" sz="3200" b="0" i="0" u="none" strike="noStrike" baseline="0" dirty="0">
                <a:latin typeface="LiberationMono-Identity-H"/>
              </a:rPr>
              <a:t>('</a:t>
            </a:r>
            <a:r>
              <a:rPr lang="en-IN" sz="3200" b="0" i="0" u="none" strike="noStrike" baseline="0" dirty="0" err="1">
                <a:latin typeface="LiberationMono-Identity-H"/>
              </a:rPr>
              <a:t>color</a:t>
            </a:r>
            <a:r>
              <a:rPr lang="en-IN" sz="3200" b="0" i="0" u="none" strike="noStrike" baseline="0" dirty="0">
                <a:latin typeface="LiberationMono-Identity-H"/>
              </a:rPr>
              <a:t>', 'red')</a:t>
            </a:r>
            <a:endParaRPr lang="en-IN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2632" y="1382486"/>
            <a:ext cx="8596668" cy="989806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 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52700" y="2003635"/>
            <a:ext cx="4245429" cy="480708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Elements to a Python Dictionary</a:t>
            </a:r>
            <a:endParaRPr lang="en-IN" sz="4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27349"/>
            <a:ext cx="8596668" cy="4514013"/>
          </a:xfrm>
        </p:spPr>
        <p:txBody>
          <a:bodyPr>
            <a:normAutofit fontScale="92500" lnSpcReduction="10000"/>
          </a:bodyPr>
          <a:lstStyle/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 = {1: "One", 2: "Two", 3: "Three"}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print(‘Dictionary-1’, numbers)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numbers[“4”]=“four”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print(‘updated dictionary’, numbers)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O/P</a:t>
            </a:r>
            <a:endParaRPr 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Dictionary-1 1: "One", 2: "Two", 3: "Three“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dictionary 1: "One", 2: "Two", 3: "Three“,4:”four”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47411"/>
          </a:xfrm>
        </p:spPr>
        <p:txBody>
          <a:bodyPr/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87157"/>
            <a:ext cx="8596668" cy="455420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 = {1: "One", 2: "Two", 3: "Three"}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print(‘Dictionary-1’, numbers)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numbers[2]=“five”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print(‘Dictionary-1’, numbers)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Wingdings 3" panose="05040102010807070707" charset="2"/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O/P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Font typeface="Wingdings 3" panose="05040102010807070707" charset="2"/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Dictionary-1 1: "One", 2: “five", 3: "Three“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59971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Accessing Elements from Dictionary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49187"/>
            <a:ext cx="8596668" cy="439217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the keys to access their corresponding values.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print(numbers[1])   #prints One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try to access the value of a key that doesn't exist, we'll get an error.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650555"/>
            <a:ext cx="8596668" cy="843643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Removing elements from Dictionary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83871"/>
            <a:ext cx="8596668" cy="4457491"/>
          </a:xfrm>
        </p:spPr>
        <p:txBody>
          <a:bodyPr>
            <a:normAutofit lnSpcReduction="20000"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the del statement to remove an element from the dictionary.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 numbers[2]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= 3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.pop(key)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I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print(x)</a:t>
            </a:r>
            <a:endParaRPr lang="en-I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310" y="232786"/>
            <a:ext cx="8596668" cy="1143837"/>
          </a:xfrm>
        </p:spPr>
        <p:txBody>
          <a:bodyPr>
            <a:normAutofit fontScale="90000"/>
          </a:bodyPr>
          <a:lstStyle/>
          <a:p>
            <a:b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Dictionary Test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56527"/>
            <a:ext cx="8596668" cy="5218444"/>
          </a:xfrm>
        </p:spPr>
        <p:txBody>
          <a:bodyPr>
            <a:normAutofit lnSpcReduction="10000"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test if a key is in a dictionary or not using the keyword in.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squares = {1: 1, 3: 9, 5: 25, 7: 49, 9: 81}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Output: True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print(1 in squares) # prints True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print(2 not in squares) # prints True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tests for key only not value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print(49 in squares) # prints false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0090" y="442127"/>
            <a:ext cx="8596668" cy="522516"/>
          </a:xfrm>
        </p:spPr>
        <p:txBody>
          <a:bodyPr>
            <a:noAutofit/>
          </a:bodyPr>
          <a:lstStyle/>
          <a:p>
            <a:r>
              <a:rPr lang="en-IN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Iterating Through a Dictionary</a:t>
            </a:r>
            <a:endParaRPr lang="en-IN" sz="4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165608"/>
            <a:ext cx="9089664" cy="5692391"/>
          </a:xfrm>
        </p:spPr>
        <p:txBody>
          <a:bodyPr>
            <a:normAutofit fontScale="25000" lnSpcReduction="20000"/>
          </a:bodyPr>
          <a:lstStyle/>
          <a:p>
            <a:r>
              <a:rPr lang="en-US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iterate through each key in a dictionary using a for loop.</a:t>
            </a:r>
            <a:endParaRPr lang="en-US" sz="1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squares = {1: 1, 3: 9, 5: 25, 7: 49, 9: 81}</a:t>
            </a:r>
            <a:endParaRPr lang="en-US" sz="1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1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squares:</a:t>
            </a:r>
            <a:endParaRPr lang="en-US" sz="1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print(squares[</a:t>
            </a:r>
            <a:r>
              <a:rPr lang="en-US" sz="1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endParaRPr lang="en-US" sz="1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 3" panose="05040102010807070707" charset="2"/>
              <a:buNone/>
            </a:pPr>
            <a:r>
              <a:rPr lang="en-US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O/P:</a:t>
            </a:r>
            <a:endParaRPr lang="en-US" sz="1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1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IN" sz="1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en-IN" sz="1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49</a:t>
            </a:r>
            <a:endParaRPr lang="en-IN" sz="1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IN" sz="1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6677" y="1376799"/>
            <a:ext cx="8596668" cy="59549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initializing string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numbers=input('enter the string :')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 to get count of each element in string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all_freq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numbers: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all_freq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all_freq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+= 1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all_freq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1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 printing result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print("Count of all characters in string is :\n ",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all_freq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28524"/>
            <a:ext cx="8596668" cy="1302970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Strings</a:t>
            </a:r>
            <a:endParaRPr lang="en-IN" sz="4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76625"/>
            <a:ext cx="8596668" cy="53180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string is a data structure in Python that represents a sequence of characters. </a:t>
            </a:r>
            <a:endParaRPr lang="en-US" sz="3200" b="0" i="0" dirty="0">
              <a:solidFill>
                <a:srgbClr val="27323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b="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an immutable data type</a:t>
            </a:r>
            <a:endParaRPr lang="en-US" sz="3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use single quotes or double quotes to represent a string in Python </a:t>
            </a:r>
            <a:endParaRPr lang="en-US" sz="3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create a string using double quotes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string1 = "Python programming“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String Characters in Python</a:t>
            </a:r>
            <a:b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access the characters in a string in three ways.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Indexing: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 way is to treat strings as a list and use index values. For example,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greet = 'hello'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access 1st index element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print(greet[1])    # "e"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Indexing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to a list, Python allows negative indexing for its strings. For example,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greet = 'hello'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access 4th last element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print(greet[-4]) # "e“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37846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Slicing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77109"/>
            <a:ext cx="8596668" cy="514475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a range of characters in a string by using the slicing operator colon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greet = 'Hello'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access character from 1st index to 3rd index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print(greet[1:4])  # "ell"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greet = 'Hello'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access character from 1st index to 3rd index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print(greet[1:4])  # "ell“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Multiline String</a:t>
            </a:r>
            <a:b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also create a multiline string in Python. For this, we use triple double quotes """ or triple single quotes '''. For example,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multiline string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= ""“Never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gonna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give you up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Never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gonna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let you down ""“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print(message)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Iterate Through a Python String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iterate through a string using a for loop. For example,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greet = 'Hello'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iterating through greet string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letter in greet: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 3" panose="05040102010807070707" charset="2"/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	print(letter)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823965"/>
            <a:ext cx="8596668" cy="773723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‘in’ operator in List</a:t>
            </a:r>
            <a:endParaRPr lang="en-IN" sz="4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18267"/>
            <a:ext cx="8596668" cy="4323095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Python, the in operator determines whether a given value is a constituent element of a sequence such as a string, array, list, or tuple.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input list</a:t>
            </a:r>
            <a:endParaRPr lang="en-IN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lst</a:t>
            </a: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["Hello", 10, “h-section", “</a:t>
            </a:r>
            <a:r>
              <a:rPr lang="en-IN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</a:t>
            </a: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"python", "code"]</a:t>
            </a:r>
            <a:endParaRPr lang="en-IN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“</a:t>
            </a:r>
            <a:r>
              <a:rPr lang="en-IN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</a:t>
            </a: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in </a:t>
            </a:r>
            <a:r>
              <a:rPr lang="en-IN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lst</a:t>
            </a: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print('Element is in the given list')</a:t>
            </a:r>
            <a:endParaRPr lang="en-IN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'bigdata' not in </a:t>
            </a:r>
            <a:r>
              <a:rPr lang="en-US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my_list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print('Element "bigdata" is not present in the given list')</a:t>
            </a:r>
            <a:endParaRPr lang="en-IN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53143"/>
          </a:xfrm>
        </p:spPr>
        <p:txBody>
          <a:bodyPr>
            <a:no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Putting strings inside other strings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54629"/>
            <a:ext cx="8596668" cy="4593771"/>
          </a:xfrm>
        </p:spPr>
        <p:txBody>
          <a:bodyPr>
            <a:normAutofit lnSpcReduction="10000"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we insert a string into another string using format method(string formatting).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several ways of adding strings in Python: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operator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__add__ method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method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formatting strings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The + operator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str1 = "Hello"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str2 = "World"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= str1 + " " + str2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print(result)  # Output: Hello World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str1 = "Hello"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str2 = "World"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= str1.__add__(" ").__add__(str2)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print(result)  # Output: Hello World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sp>
        <p:nvSpPr>
          <p:cNvPr id="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86575" y="916058"/>
            <a:ext cx="925027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ctr" fontAlgn="base">
              <a:lnSpc>
                <a:spcPct val="100000"/>
              </a:lnSpc>
              <a:spcAft>
                <a:spcPct val="0"/>
              </a:spcAft>
              <a:buClrTx/>
              <a:buSzTx/>
            </a:pPr>
            <a:r>
              <a:rPr lang="en-US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the_add_add method</a:t>
            </a:r>
            <a:endParaRPr lang="en-US" alt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53143"/>
          </a:xfrm>
        </p:spPr>
        <p:txBody>
          <a:bodyPr>
            <a:noAutofit/>
          </a:bodyPr>
          <a:lstStyle/>
          <a:p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Putting strings inside other strings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54629"/>
            <a:ext cx="4351866" cy="4593771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'old'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' tree'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a + 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msg = 'There are'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msg += ' three falcons'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msg += ' in the sky'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print(msg)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print(c)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4800600" y="1997299"/>
            <a:ext cx="69233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print("Number {:03d} is here.".format(11))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011 is here.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75668" y="3660373"/>
            <a:ext cx="65389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'A formatted number - {:.4f}'.format(.2)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'A formatted number - 0.2000'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fontAlgn="base">
              <a:spcAft>
                <a:spcPct val="0"/>
              </a:spcAft>
            </a:pP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Join methods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words = ["Hello", "World"]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= " ".join(words)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print(result)  # Output: Hello World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fontAlgn="base">
              <a:spcAft>
                <a:spcPct val="0"/>
              </a:spcAft>
            </a:pP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 method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87157"/>
            <a:ext cx="8596668" cy="522514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format() method allows you to embed variables into a string placeholders{}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= "Alice"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= 25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greeting = "Hello, my name is {} and I am {} years old.". format(name, age)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print(greeting)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Output: Hello, my name is Alice and I am 25 years old.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fontAlgn="base">
              <a:spcAft>
                <a:spcPct val="0"/>
              </a:spcAft>
            </a:pPr>
            <a:r>
              <a:rPr lang="en-IN" sz="4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Functions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:returns ASCII(Unicode) value of a  character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('a')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print(x)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762001"/>
            <a:ext cx="8596668" cy="5279362"/>
          </a:xfrm>
        </p:spPr>
        <p:txBody>
          <a:bodyPr>
            <a:normAutofit/>
          </a:bodyPr>
          <a:lstStyle/>
          <a:p>
            <a:pPr marL="0" indent="0" algn="ctr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Python chr()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the character corresponding to an ASCII (or Unicode) value.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1025904" y="2828835"/>
            <a:ext cx="457102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(65)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(y)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(123))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(36))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25904" y="4996626"/>
            <a:ext cx="61014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Python chr()</a:t>
            </a:r>
            <a:b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37398"/>
            <a:ext cx="9371018" cy="4873449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the character corresponding to an ASCII (or Unicode) value.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(65)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(y)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(123))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733530"/>
            <a:ext cx="8596668" cy="1045028"/>
          </a:xfrm>
        </p:spPr>
        <p:txBody>
          <a:bodyPr>
            <a:noAutofit/>
          </a:bodyPr>
          <a:lstStyle/>
          <a:p>
            <a:pPr algn="ctr" fontAlgn="base">
              <a:spcAft>
                <a:spcPct val="0"/>
              </a:spcAft>
              <a:buClr>
                <a:schemeClr val="accent1"/>
              </a:buClr>
              <a:buSzPct val="80000"/>
            </a:pP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Escape Sequences in Python</a:t>
            </a:r>
            <a:b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98655"/>
            <a:ext cx="8596668" cy="3456633"/>
          </a:xfrm>
        </p:spPr>
        <p:txBody>
          <a:bodyPr>
            <a:normAutofit/>
          </a:bodyPr>
          <a:lstStyle/>
          <a:p>
            <a:pPr algn="l"/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escape sequence is used to escape some of the characters present inside a string.</a:t>
            </a:r>
            <a:endParaRPr lang="en-US" sz="3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Suppose we need to include both double quote and single quote inside a string,</a:t>
            </a:r>
            <a:endParaRPr lang="en-US" sz="3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004835"/>
            <a:ext cx="8596668" cy="5036527"/>
          </a:xfrm>
        </p:spPr>
        <p:txBody>
          <a:bodyPr>
            <a:normAutofit/>
          </a:bodyPr>
          <a:lstStyle/>
          <a:p>
            <a:pPr algn="l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"He said, "What's there?""</a:t>
            </a:r>
            <a:endParaRPr lang="en-US" sz="3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print(X) # throws error</a:t>
            </a:r>
            <a:endParaRPr lang="en-US" sz="32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escape double quotes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= "He said, \"What's there?\""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escape single quotes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= 'He said, "What\'s there?"'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print(example)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Inserts a line break.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print("Hello\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nWorld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sp>
        <p:nvSpPr>
          <p:cNvPr id="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77334" y="916059"/>
            <a:ext cx="601486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ctr" fontAlgn="base">
              <a:lnSpc>
                <a:spcPct val="100000"/>
              </a:lnSpc>
              <a:spcAft>
                <a:spcPct val="0"/>
              </a:spcAft>
              <a:buClr>
                <a:schemeClr val="accent1"/>
              </a:buClr>
              <a:buSzPct val="80000"/>
            </a:pPr>
            <a:r>
              <a:rPr lang="en-US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\n: Newline </a:t>
            </a:r>
            <a:endParaRPr lang="en-US" alt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Inserts a tab space.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print("Hello\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tWorld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  World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sp>
        <p:nvSpPr>
          <p:cNvPr id="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77334" y="916058"/>
            <a:ext cx="405544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algn="ctr" fontAlgn="base">
              <a:spcAft>
                <a:spcPct val="0"/>
              </a:spcAft>
              <a:buClr>
                <a:schemeClr val="accent1"/>
              </a:buClr>
              <a:buSzPct val="80000"/>
            </a:pPr>
            <a:r>
              <a:rPr lang="en-US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\t: Tab </a:t>
            </a:r>
            <a:endParaRPr lang="en-US" alt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3638" y="974725"/>
            <a:ext cx="8596668" cy="870857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String Method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2238" y="1845582"/>
            <a:ext cx="8596668" cy="45609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Methods	Description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upper()	converts the string to uppercase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lower()	converts the string to lowercase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islower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isupper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split()	splits string from left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366" y="854529"/>
            <a:ext cx="8596668" cy="95794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Examples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3366" y="1812472"/>
            <a:ext cx="8596668" cy="5045528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'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Hello'.upper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'HELLO'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'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Hello'.upper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().lower()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'hello'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'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Hello'.upper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().lower().upper()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'HELLO'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'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HELLO'.lower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'hello'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'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HELLO'.lower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islower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734787"/>
            <a:ext cx="8858553" cy="5812970"/>
          </a:xfrm>
        </p:spPr>
        <p:txBody>
          <a:bodyPr>
            <a:noAutofit/>
          </a:bodyPr>
          <a:lstStyle/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isalpha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returns True if the string consists only of letters and is not blank.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isalnum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returns True if the string consists only of letters and numbers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is not blank.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isdecimal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returns True if the string consists only of numeric characters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734787"/>
            <a:ext cx="8858553" cy="5812970"/>
          </a:xfrm>
        </p:spPr>
        <p:txBody>
          <a:bodyPr>
            <a:noAutofit/>
          </a:bodyPr>
          <a:lstStyle/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isspace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returns True if the string consists only of spaces, tabs, and newlines and is not blank.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istitle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returns True if the string consists only of words that begin with  an uppercase letter followed by only lowercase letters.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/>
              <a:t>&gt;&gt;&gt; 'hello'.</a:t>
            </a:r>
            <a:r>
              <a:rPr lang="en-IN" sz="2400" dirty="0" err="1"/>
              <a:t>isalpha</a:t>
            </a:r>
            <a:r>
              <a:rPr lang="en-IN" sz="2400" dirty="0"/>
              <a:t>() </a:t>
            </a:r>
            <a:endParaRPr lang="en-IN" sz="2400" dirty="0"/>
          </a:p>
          <a:p>
            <a:pPr marL="0" indent="0" algn="just">
              <a:buNone/>
            </a:pPr>
            <a:endParaRPr lang="en-IN" sz="2400" dirty="0"/>
          </a:p>
          <a:p>
            <a:pPr algn="just"/>
            <a:r>
              <a:rPr lang="en-IN" sz="2400" dirty="0"/>
              <a:t>True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061" y="587393"/>
            <a:ext cx="9642323" cy="794657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4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startswith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and </a:t>
            </a:r>
            <a:r>
              <a:rPr lang="en-US" sz="4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endswith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String Methods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2136" y="1298447"/>
            <a:ext cx="10837332" cy="5905501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startswith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endswith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methods return True if the string value they  are called on begins or ends (respectively) with the string passed to the  method; otherwise, they return False.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'Hello world!'.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startswith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('Hello')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'Hello world!'.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endswith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('world!')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'abc123'.startswith('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abcdef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061" y="587393"/>
            <a:ext cx="9642323" cy="794657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4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startswith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and </a:t>
            </a:r>
            <a:r>
              <a:rPr lang="en-US" sz="4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endswith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String Methods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9568" y="1746503"/>
            <a:ext cx="10837332" cy="5905501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'abc123'.endswith('12')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'Hello world!'.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startswith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('Hello world!')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'Hello world!'.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endswith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('Hello world!')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20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join() and split() String Methods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371601"/>
            <a:ext cx="10442423" cy="527412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join() method is useful when you have a list of strings that need to be joined together into a single string value.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', '.join(['cats', 'rats', 'bats’])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'cats, rats, bats’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' '.join(['My', 'name', 'is', 'Simon'])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'My name is Simon'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4788" y="960145"/>
            <a:ext cx="8596668" cy="7620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join() and split() String Methods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4788" y="2121409"/>
            <a:ext cx="10442423" cy="5274128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'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ABC'.join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(['My', 'name', 'is', 'Simon'])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MyABCnameABCisABCSimon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“”.join([“12”,”24”,”36”])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‘122436’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43643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split()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453243"/>
            <a:ext cx="9364737" cy="458811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split() is to split a multiline string along the newline characters.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“45578”.split(“57”)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[‘45’, ‘8’]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68062" y="2274838"/>
            <a:ext cx="61068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txt = "welcome to the jungle"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txt.split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print(x)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['welcome', 'to', 'the', 'jungle']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763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Justifying Text with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rjust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ljust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85901"/>
            <a:ext cx="8596668" cy="4920586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rjust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ljust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string methods return a padded version of the string they are called on, with spaces inserted to justify the text.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'Hello'.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rjust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               Hello'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'Hello'.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rjust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(20) //(20,*)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‘                            Hello'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'Hello World'.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rjust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Hello World'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'Hello'.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ljust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(10) //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'Hello '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593337" cy="13208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Removing Whitespace with strip(),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rstrip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(), and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lstrip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96143"/>
            <a:ext cx="9593336" cy="445225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 off whitespace characters (space, tab, and newline) from the left side, right side, or both sides of a string.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strip() string method will return a new string without any whitespace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 spam = ‘              Hello World               ‘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spam.strip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'Hello World'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593337" cy="13208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Removing Whitespace with strip(),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rstrip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(), and 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lstrip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6790" y="2321177"/>
            <a:ext cx="9593336" cy="4452257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spam.lstrip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'Hello World ‘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&gt;&gt;&gt;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spam.rstrip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Hello World'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7B3-495A-4D82-8FEF-A509AF83E6A5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92" y="84566"/>
            <a:ext cx="10717967" cy="4763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9701</Words>
  <Application>WPS Presentation</Application>
  <PresentationFormat>Widescreen</PresentationFormat>
  <Paragraphs>586</Paragraphs>
  <Slides>52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67" baseType="lpstr">
      <vt:lpstr>Arial</vt:lpstr>
      <vt:lpstr>SimSun</vt:lpstr>
      <vt:lpstr>Wingdings</vt:lpstr>
      <vt:lpstr>Wingdings 3</vt:lpstr>
      <vt:lpstr>Arial</vt:lpstr>
      <vt:lpstr>Times New Roman</vt:lpstr>
      <vt:lpstr>Open Sans</vt:lpstr>
      <vt:lpstr>Segoe Print</vt:lpstr>
      <vt:lpstr>LiberationMono-Identity-H</vt:lpstr>
      <vt:lpstr>LiberationMono-Bold-Identity-H</vt:lpstr>
      <vt:lpstr>Trebuchet MS</vt:lpstr>
      <vt:lpstr>Microsoft YaHei</vt:lpstr>
      <vt:lpstr>Arial Unicode MS</vt:lpstr>
      <vt:lpstr>Calibri</vt:lpstr>
      <vt:lpstr>Facet</vt:lpstr>
      <vt:lpstr>Unit 4 </vt:lpstr>
      <vt:lpstr>PowerPoint 演示文稿</vt:lpstr>
      <vt:lpstr> Dictionaries </vt:lpstr>
      <vt:lpstr>PowerPoint 演示文稿</vt:lpstr>
      <vt:lpstr>Dictionary vs Lists</vt:lpstr>
      <vt:lpstr>PowerPoint 演示文稿</vt:lpstr>
      <vt:lpstr>Create a dictionary in Python</vt:lpstr>
      <vt:lpstr>PowerPoint 演示文稿</vt:lpstr>
      <vt:lpstr>The keys(), values(), and items() Methods</vt:lpstr>
      <vt:lpstr>PowerPoint 演示文稿</vt:lpstr>
      <vt:lpstr>PowerPoint 演示文稿</vt:lpstr>
      <vt:lpstr>Methods </vt:lpstr>
      <vt:lpstr>Add Elements to a Python Dictionary</vt:lpstr>
      <vt:lpstr>Update </vt:lpstr>
      <vt:lpstr>Accessing Elements from Dictionary</vt:lpstr>
      <vt:lpstr>Removing elements from Dictionary</vt:lpstr>
      <vt:lpstr> Dictionary Test</vt:lpstr>
      <vt:lpstr>Iterating Through a Dictionary</vt:lpstr>
      <vt:lpstr>PowerPoint 演示文稿</vt:lpstr>
      <vt:lpstr>Strings</vt:lpstr>
      <vt:lpstr>Access String Characters in Python </vt:lpstr>
      <vt:lpstr>Negative Indexing</vt:lpstr>
      <vt:lpstr>Slicing</vt:lpstr>
      <vt:lpstr>Python Multiline String </vt:lpstr>
      <vt:lpstr>Iterate Through a Python String </vt:lpstr>
      <vt:lpstr>‘in’ operator in List</vt:lpstr>
      <vt:lpstr>PowerPoint 演示文稿</vt:lpstr>
      <vt:lpstr>Putting strings inside other strings</vt:lpstr>
      <vt:lpstr>Using The + operator</vt:lpstr>
      <vt:lpstr>Using the_add_add method</vt:lpstr>
      <vt:lpstr>Putting strings inside other strings</vt:lpstr>
      <vt:lpstr>Using Join methods</vt:lpstr>
      <vt:lpstr>Format method</vt:lpstr>
      <vt:lpstr>ord() Functions</vt:lpstr>
      <vt:lpstr>PowerPoint 演示文稿</vt:lpstr>
      <vt:lpstr>Python chr() </vt:lpstr>
      <vt:lpstr>Escape Sequences in Python </vt:lpstr>
      <vt:lpstr>PowerPoint 演示文稿</vt:lpstr>
      <vt:lpstr>\n: Newline </vt:lpstr>
      <vt:lpstr>\t: Tab </vt:lpstr>
      <vt:lpstr>String Method</vt:lpstr>
      <vt:lpstr>Examples</vt:lpstr>
      <vt:lpstr>PowerPoint 演示文稿</vt:lpstr>
      <vt:lpstr>PowerPoint 演示文稿</vt:lpstr>
      <vt:lpstr>The startswith() and endswith() String Methods</vt:lpstr>
      <vt:lpstr>The startswith() and endswith() String Methods</vt:lpstr>
      <vt:lpstr>The join() and split() String Methods</vt:lpstr>
      <vt:lpstr>The join() and split() String Methods</vt:lpstr>
      <vt:lpstr>split()</vt:lpstr>
      <vt:lpstr>Justifying Text with rjust(), ljust() </vt:lpstr>
      <vt:lpstr>Removing Whitespace with strip(), rstrip(), and lstrip()</vt:lpstr>
      <vt:lpstr>Removing Whitespace with strip(), rstrip(), and lstrip()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 Programming</dc:title>
  <dc:creator>Tejaswini  N P</dc:creator>
  <cp:lastModifiedBy>lijoj</cp:lastModifiedBy>
  <cp:revision>197</cp:revision>
  <dcterms:created xsi:type="dcterms:W3CDTF">2022-12-12T04:59:00Z</dcterms:created>
  <dcterms:modified xsi:type="dcterms:W3CDTF">2025-05-19T04:14:19Z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691856B3673745B9A9C14E52B68FBFB5_12</vt:lpwstr>
  </property>
  <property fmtid="{D5CDD505-2E9C-101B-9397-08002B2CF9AE}" pid="3" name="KSOProductBuildVer">
    <vt:lpwstr>1033-12.2.0.21179</vt:lpwstr>
  </property>
</Properties>
</file>